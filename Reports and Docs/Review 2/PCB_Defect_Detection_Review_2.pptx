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45920" y="1737360"/>
            <a:ext cx="8924544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700" b="1">
                <a:solidFill>
                  <a:srgbClr val="00467F"/>
                </a:solidFill>
                <a:latin typeface="Times New Roman"/>
              </a:rPr>
              <a:t>B.Tech – Computer Science and Engineering  BCSE497J (17972UG04)
</a:t>
            </a:r>
          </a:p>
          <a:p>
            <a:pPr algn="l"/>
            <a:r>
              <a:rPr sz="2300" b="1">
                <a:solidFill>
                  <a:srgbClr val="0F2043"/>
                </a:solidFill>
                <a:latin typeface="Times New Roman"/>
              </a:rPr>
              <a:t>Lightweight Deep Learning for PCB Defect Detection:
</a:t>
            </a:r>
          </a:p>
          <a:p>
            <a:pPr algn="l"/>
            <a:r>
              <a:rPr sz="1600" b="1">
                <a:solidFill>
                  <a:srgbClr val="0070C0"/>
                </a:solidFill>
                <a:latin typeface="Times New Roman"/>
              </a:rPr>
              <a:t>Adaptive Resolution-Aware Dual-Track Detection Framework (Review 2)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560320" y="3931920"/>
            <a:ext cx="7068312" cy="2377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1">
                <a:solidFill>
                  <a:srgbClr val="00467F"/>
                </a:solidFill>
                <a:latin typeface="Times New Roman"/>
              </a:rP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 algn="l"/>
            <a:r>
              <a:rPr sz="1300" b="0">
                <a:solidFill>
                  <a:srgbClr val="1E1E1E"/>
                </a:solidFill>
                <a:latin typeface="Times New Roman"/>
              </a:rPr>
              <a:t>Abhinav Kumar Sinha		(23BCE0565)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Times New Roman"/>
              </a:rPr>
              <a:t>Janie M. Sidhikh		(23BCB0020)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Times New Roman"/>
              </a:rPr>
              <a:t>Atharva Rahul Tambakhe	(23BCT0182)</a:t>
            </a:r>
          </a:p>
          <a:p>
            <a:pPr algn="l"/>
            <a:r>
              <a:rPr sz="600" b="0">
                <a:solidFill>
                  <a:srgbClr val="1E1E1E"/>
                </a:solidFill>
                <a:latin typeface="Times New Roman"/>
              </a:rPr>
              <a:t/>
            </a:r>
          </a:p>
          <a:p>
            <a:pPr algn="l"/>
            <a:r>
              <a:rPr sz="1400" b="1">
                <a:solidFill>
                  <a:srgbClr val="00467F"/>
                </a:solidFill>
                <a:latin typeface="Times New Roman"/>
              </a:rPr>
              <a:t>Faculty guide :</a:t>
            </a:r>
          </a:p>
          <a:p>
            <a:pPr algn="l"/>
            <a:r>
              <a:rPr sz="1300" b="0">
                <a:solidFill>
                  <a:srgbClr val="1E1E1E"/>
                </a:solidFill>
                <a:latin typeface="Times New Roman"/>
              </a:rPr>
              <a:t>Dr. Parthiban K			(SCOPE)</a:t>
            </a:r>
          </a:p>
          <a:p>
            <a:pPr algn="l"/>
            <a:r>
              <a:rPr sz="600" b="0">
                <a:solidFill>
                  <a:srgbClr val="1E1E1E"/>
                </a:solidFill>
                <a:latin typeface="Times New Roma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Times New Roman"/>
              </a:rPr>
              <a:t>Date of Review: 09-09-2026 | BCSE497J Project-I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00467F"/>
                </a:solidFill>
                <a:latin typeface="Times New Roman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71600"/>
            <a:ext cx="10725912" cy="1645920"/>
          </a:xfrm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467F"/>
                </a:solidFill>
                <a:latin typeface="Times New Roman"/>
              </a:rPr>
              <a:t>Formal Guide Approval Checkpoints </a:t>
            </a:r>
            <a:r>
              <a:rPr sz="1300" b="0">
                <a:solidFill>
                  <a:srgbClr val="1E1E1E"/>
                </a:solidFill>
                <a:latin typeface="Times New Roman"/>
              </a:rPr>
              <a:t>(per University Project-I Rubric):</a:t>
            </a:r>
          </a:p>
          <a:p>
            <a:pPr lvl="1"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Times New Roman"/>
              </a:rPr>
              <a:t>1. Review 2 Presentation Deck: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Technical contents, metrics, and dual-track architecture verified and approved by Dr. Parthiban K.</a:t>
            </a:r>
          </a:p>
          <a:p>
            <a:pPr lvl="1"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Times New Roman"/>
              </a:rPr>
              <a:t>2. Draft Report &amp; Moodle Submission: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Interim draft documentation prepared and reviewed prior to university submission deadline.</a:t>
            </a:r>
          </a:p>
          <a:p>
            <a:pPr lvl="1"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Times New Roman"/>
              </a:rPr>
              <a:t>3. Live Demonstration Eligibility: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Confirmed eligibility based on &gt;75% completed pipeline and operational Streamlit dashboard.</a:t>
            </a:r>
          </a:p>
          <a:p>
            <a:pPr lvl="1"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Times New Roman"/>
              </a:rPr>
              <a:t>4. Offline Review Attendance: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Slot confirmed for offline presentation on Wednesday, September 9, 2026.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2</a:t>
            </a:r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10725912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17320"/>
            <a:ext cx="10725912" cy="4663440"/>
          </a:xfrm>
        </p:spPr>
        <p:txBody>
          <a:bodyPr wrap="square">
            <a:normAutofit/>
          </a:bodyPr>
          <a:lstStyle/>
          <a:p>
            <a:pPr algn="l">
              <a:spcAft>
                <a:spcPts val="1400"/>
              </a:spcAft>
            </a:pPr>
            <a:r>
              <a:rPr sz="1350" b="1">
                <a:solidFill>
                  <a:srgbClr val="00467F"/>
                </a:solidFill>
                <a:latin typeface="Times New Roman"/>
              </a:rPr>
              <a:t>• Framework Design &amp; Implementation: </a:t>
            </a:r>
            <a:r>
              <a:rPr sz="1350" b="0">
                <a:solidFill>
                  <a:srgbClr val="1E1E1E"/>
                </a:solidFill>
                <a:latin typeface="Times New Roman"/>
              </a:rPr>
              <a:t>To design, develop, and benchmark an edge-deployable, high-efficiency PCB surface defect detection framework integrating a defect-aware adaptive resolution router, a complementary dual-track CNN (YOLO26n) + Transformer (RT-DETR-L) architecture, and Weighted Box Fusion (WBF).</a:t>
            </a:r>
          </a:p>
          <a:p>
            <a:pPr algn="l">
              <a:spcAft>
                <a:spcPts val="1400"/>
              </a:spcAft>
            </a:pPr>
            <a:r>
              <a:rPr sz="1350" b="1">
                <a:solidFill>
                  <a:srgbClr val="00467F"/>
                </a:solidFill>
                <a:latin typeface="Times New Roman"/>
              </a:rPr>
              <a:t>• Comprehensive Empirical Benchmarking: </a:t>
            </a:r>
            <a:r>
              <a:rPr sz="1350" b="0">
                <a:solidFill>
                  <a:srgbClr val="1E1E1E"/>
                </a:solidFill>
                <a:latin typeface="Times New Roman"/>
              </a:rPr>
              <a:t>To systematically validate detection recall, mAP@50, and model compression (ONNX dynamic INT8 quantization) on the 10,259-image DsPCBSD+ industrial benchmark across 9 distinct PCB surface defect classes under varying scale and texture conditions.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0467F"/>
                </a:solidFill>
                <a:latin typeface="Times New Roman"/>
              </a:rPr>
              <a:t>• Factory-Floor Edge Deployment: </a:t>
            </a:r>
            <a:r>
              <a:rPr sz="1350" b="0">
                <a:solidFill>
                  <a:srgbClr val="1E1E1E"/>
                </a:solidFill>
                <a:latin typeface="Times New Roman"/>
              </a:rPr>
              <a:t>To deploy an interactive, real-time inspection dashboard for live visual verification, confidence threshold tuning, and automated defect triage suitable for factory-floor embedded hardware (achieving sub-35ms latency and &gt;3× model compression).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3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71600"/>
            <a:ext cx="10725912" cy="4709160"/>
          </a:xfrm>
        </p:spPr>
        <p:txBody>
          <a:bodyPr wrap="square">
            <a:normAutofit/>
          </a:bodyPr>
          <a:lstStyle/>
          <a:p>
            <a:pPr algn="l">
              <a:spcAft>
                <a:spcPts val="800"/>
              </a:spcAft>
            </a:pPr>
            <a:r>
              <a:rPr sz="1250" b="1">
                <a:solidFill>
                  <a:srgbClr val="00467F"/>
                </a:solidFill>
                <a:latin typeface="Times New Roman"/>
              </a:rPr>
              <a:t>• Industrial Problem &amp; Context: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Automated PCB surface defect inspection is critical for electronics reliability. Traditional manual inspection is slow and inconsistent, while existing deep learning systems face a severe trade-off between inference speed on macro-defects and detection sensitivity on fine sub-pixel micro-defects.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00467F"/>
                </a:solidFill>
                <a:latin typeface="Times New Roman"/>
              </a:rPr>
              <a:t>• Adaptive Resolution Preprocessing: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We introduce a Defect-Aware Adaptive Resolution Router that dynamically selects preprocessing based on edge density, contrast variance, and FFT high-frequency energy ratio — routing 55.13% of boards directly to 640×640 inference and only 44.87% to SwinIR-light (x2 upscale), saving an average of 22.1 ms/image across all 10,259 benchmark images.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00467F"/>
                </a:solidFill>
                <a:latin typeface="Times New Roman"/>
              </a:rPr>
              <a:t>• Dual-Track Detection &amp; WBF Late Fusion: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The system combines an ultra-fast CNN (YOLO26n: 3.9ms GPU, 79.9% mAP@50) with a global context-aware Transformer (RT-DETR-L: 28.0ms GPU, 85.6% mAP@50). Weighted Box Fusion (WBF: DETR weight 1.5×, YOLO weight 1.0×) achieves peak F1-score of 0.6493, preserves maximum recall at 86.63%, and eliminates 17 false alarms compared to RT-DETR alone.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0467F"/>
                </a:solidFill>
                <a:latin typeface="Times New Roman"/>
              </a:rPr>
              <a:t>• Edge Quantization &amp; Operational Delivery: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Models are compressed via ONNX dynamic INT8 quantization, shrinking YOLO by 3.41× (5.14MB → 2.74MB) and RT-DETR by 3.87× (66.2MB → 32.45MB), backed by an operational Streamlit dashboard (&gt;75% project implementation complete, exceeding Review 2 rubric).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5</a:t>
            </a:r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110916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3291840"/>
                <a:gridCol w="3410712"/>
              </a:tblGrid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Research Stream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Representative Works (2024–2026)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Key Methodology &amp; Strengths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Identified Gaps &amp; Limitations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1. Lightweight YOLO Variants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Improved YOLOv11s (Ye 2026)
SCF-YOLO (Li 2025)
GESC-YOLO (Kong 2025)
YOLO-DefXpert (Selvam 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EfficientViT + C3k2, GSConv, Slim Neck, MobileNetV3 backbones.
High throughput (85–256 FPS), compact footprint (&lt;10 MB).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Local receptive field misses global context; struggles with subtle conductor scratches and hairline micro-defects.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2. Transformer &amp; Attention Detectors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RT-DETR (Lyu CVPR 2024)
ViT-Mamba (Niaz 2025)
MAS-YOLO (Yin 2025)
ABF-YOLO (He 2025)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Hybrid CNN-Transformer encoder; global self-attention across traces.
Superior precision (&gt;85% mAP@50); robust long-range context.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High computational cost (&gt;32M params, &gt;60 MB, 28ms+ latency); prohibitive for direct edge deployment without compression.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3. Super-Resolution in Defect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SwinIR-light (Liang ICCVW 2021)
Real-ESRGAN (Wang 2021)
CARAFE Upsampling (Mounika 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Restores high-frequency sub-pixel edge details;
boosts micro-defect detection by +2–5% mAP.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Blanket application to all images adds 50–100ms latency penalty; no dynamic defect-aware gating exists in prior literature.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4. Edge Compression &amp; Ensembling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GroupConv Pruning (Chu 2025)
WBF Ensembling (Solovyev 2021)
ONNX Runtime Quantization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Significantly reduces model footprint; merges complementary bounding boxes to eliminate spurious detections.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Absence of validated INT8 quantization benchmarks on PCB defect datasets; academic papers benchmark solely on server GPUs.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71600"/>
            <a:ext cx="10725912" cy="4709160"/>
          </a:xfrm>
        </p:spPr>
        <p:txBody>
          <a:bodyPr wrap="square">
            <a:norm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467F"/>
                </a:solidFill>
                <a:latin typeface="Times New Roman"/>
              </a:rPr>
              <a:t>• Gap 1 — Processing Inefficiency in Defect Preprocessing: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Existing AOI literature either uniformly applies super-resolution to every image (incurring 50–100ms unnecessary latency penalty on obvious macro-defects) or completely omits SR (failing on sub-pixel hairline cracks &lt;20px and micro-particles).</a:t>
            </a:r>
          </a:p>
          <a:p>
            <a:pPr lvl="1" algn="l">
              <a:spcAft>
                <a:spcPts val="900"/>
              </a:spcAft>
            </a:pPr>
            <a:r>
              <a:rPr sz="1150" b="1">
                <a:solidFill>
                  <a:srgbClr val="1E1E1E"/>
                </a:solidFill>
                <a:latin typeface="Times New Roman"/>
              </a:rPr>
              <a:t>  ➜ Our Solution: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Defect-Aware Adaptive Resolution Router — evaluates edge density, contrast variance, and FFT high-frequency energy ratio to route only 44.87% of boards to SR, saving 22.1 ms/image on average while safeguarding micro-defect accuracy.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467F"/>
                </a:solidFill>
                <a:latin typeface="Times New Roman"/>
              </a:rPr>
              <a:t>• Gap 2 — Single-Paradigm Architecture Bottleneck: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Standalone CNNs (YOLO) lack global attention and struggle with long-range trace connectivity; standalone Vision Transformers (RT-DETR) are computationally heavy for edge deployment. No complementary dual-track CNN+Transformer fusion exists on DsPCBSD+.</a:t>
            </a:r>
          </a:p>
          <a:p>
            <a:pPr lvl="1" algn="l">
              <a:spcAft>
                <a:spcPts val="900"/>
              </a:spcAft>
            </a:pPr>
            <a:r>
              <a:rPr sz="1150" b="1">
                <a:solidFill>
                  <a:srgbClr val="1E1E1E"/>
                </a:solidFill>
                <a:latin typeface="Times New Roman"/>
              </a:rPr>
              <a:t>  ➜ Our Solution: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Dual-Track YOLO26n + RT-DETR-L fused via Weighted Box Fusion (WBF) — exploits local speed and global context simultaneously, achieving top F1 (0.6493) and maximum recall (86.63%) while pruning 17 false positives vs DETR-alone.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467F"/>
                </a:solidFill>
                <a:latin typeface="Times New Roman"/>
              </a:rPr>
              <a:t>• Gap 3 — Absence of Edge Compression Benchmarks: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Recent (2024–2026) papers report raw server GPU metrics (T4/A100) without validating INT8/FP16 quantization or edge memory constraints for factory-floor embedded hardware (Jetson Nano, Raspberry Pi).</a:t>
            </a:r>
          </a:p>
          <a:p>
            <a:pPr lvl="1" algn="l">
              <a:spcAft>
                <a:spcPts val="600"/>
              </a:spcAft>
            </a:pPr>
            <a:r>
              <a:rPr sz="1150" b="1">
                <a:solidFill>
                  <a:srgbClr val="1E1E1E"/>
                </a:solidFill>
                <a:latin typeface="Times New Roman"/>
              </a:rPr>
              <a:t>  ➜ Our Solution: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Validated ONNX Dynamic INT8 Quantization — compresses YOLO by 3.41× (5.14MB → 2.74MB) and RT-DETR by 3.87× (66.2MB → 32.45MB) with comprehensive CPU edge latency profiling.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11091672" cy="2834640"/>
          </a:xfrm>
        </p:spPr>
        <p:txBody>
          <a:bodyPr wrap="square">
            <a:norm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0467F"/>
                </a:solidFill>
                <a:latin typeface="Times New Roman"/>
              </a:rPr>
              <a:t>• Objective 1 — Adaptive Preprocessing Router: </a:t>
            </a:r>
            <a:r>
              <a:rPr sz="1200" b="0">
                <a:solidFill>
                  <a:srgbClr val="1E1E1E"/>
                </a:solidFill>
                <a:latin typeface="Times New Roman"/>
              </a:rPr>
              <a:t>Develop and validate a Defect-Aware Adaptive Resolution Router that dynamically categorizes boards into direct vs super-resolution pipelines based on edge density, contrast, and FFT frequency metrics.
   ✔ Status: COMPLETE — 55.13% Direct / 44.87% SR, saving 22.1 ms/image across 10,259 benchmark images.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0467F"/>
                </a:solidFill>
                <a:latin typeface="Times New Roman"/>
              </a:rPr>
              <a:t>• Objective 2 — Dual-Track CNN + Transformer Fusion: </a:t>
            </a:r>
            <a:r>
              <a:rPr sz="1200" b="0">
                <a:solidFill>
                  <a:srgbClr val="1E1E1E"/>
                </a:solidFill>
                <a:latin typeface="Times New Roman"/>
              </a:rPr>
              <a:t>Construct a complementary detection framework pairing an ultra-lightweight CNN (YOLO26n) with an attention-based Transformer (RT-DETR-L), fused via Weighted Box Fusion (WBF).
   ✔ Status: COMPLETE — Best F1-score: 0.6493, Preserved Recall: 86.63%, 17 False Positives eliminated vs DETR-alone.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467F"/>
                </a:solidFill>
                <a:latin typeface="Times New Roman"/>
              </a:rPr>
              <a:t>• Objective 3 — Edge-Optimized Compression &amp; Operator Dashboard: </a:t>
            </a:r>
            <a:r>
              <a:rPr sz="1200" b="0">
                <a:solidFill>
                  <a:srgbClr val="1E1E1E"/>
                </a:solidFill>
                <a:latin typeface="Times New Roman"/>
              </a:rPr>
              <a:t>Benchmark and optimize the unified system for edge execution via ONNX FP16/INT8 quantization and deploy an interactive inspection dashboard for operator triage.
   ✔ Status: COMPLETE — YOLO compressed to 2.74MB (3.41×), RT-DETR to 32.45MB (3.87×), Streamlit dashboard operational.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548640" y="4343400"/>
            <a:ext cx="758952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300" b="1">
                <a:solidFill>
                  <a:srgbClr val="00467F"/>
                </a:solidFill>
                <a:latin typeface="Times New Roman"/>
              </a:rPr>
              <a:t>Identified Sustainable Development Goals:
</a:t>
            </a:r>
            <a:r>
              <a:rPr sz="1100">
                <a:solidFill>
                  <a:srgbClr val="1E1E1E"/>
                </a:solidFill>
                <a:latin typeface="Times New Roman"/>
              </a:rPr>
              <a:t>• SDG 9: Industry, Innovation and Infrastructure (High-precision automated inspection for electronics)
• SDG 12: Responsible Consumption and Production (Minimizing PCB scrap, component waste, &amp; e-waste)
</a:t>
            </a:r>
          </a:p>
          <a:p>
            <a:pPr algn="l"/>
            <a:r>
              <a:rPr sz="1200" b="1">
                <a:solidFill>
                  <a:srgbClr val="00467F"/>
                </a:solidFill>
                <a:latin typeface="Times New Roman"/>
              </a:rPr>
              <a:t>Technology Readiness Level: </a:t>
            </a:r>
            <a:r>
              <a:rPr sz="1100">
                <a:solidFill>
                  <a:srgbClr val="1E1E1E"/>
                </a:solidFill>
                <a:latin typeface="Times New Roman"/>
              </a:rPr>
              <a:t>TRL 4–5 (Component validation in lab environment)
</a:t>
            </a:r>
            <a:r>
              <a:rPr sz="1200" b="1">
                <a:solidFill>
                  <a:srgbClr val="00467F"/>
                </a:solidFill>
                <a:latin typeface="Times New Roman"/>
              </a:rPr>
              <a:t>Target Outcome: </a:t>
            </a:r>
            <a:r>
              <a:rPr sz="1100">
                <a:solidFill>
                  <a:srgbClr val="1E1E1E"/>
                </a:solidFill>
                <a:latin typeface="Times New Roman"/>
              </a:rPr>
              <a:t>Journal (Scopus) — IEEE Access / Sensors (MDPI) manuscript in prep.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434840"/>
            <a:ext cx="1600200" cy="1325880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4434840"/>
            <a:ext cx="160020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2377440"/>
          </a:xfrm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Stage 1 — Adaptive Preprocessing Router: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Input PCB Image ➔ 3-Metric Decision Engine (Canny Edge Density + Contrast Variance + FFT High-Frequency Energy Ratio) ➔ DIRECT Path (55.13%, 640×640 resize) vs SR Path (44.87%, SwinIR-light x2 upscale), saving 22.1 ms/img net compute.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Stage 2 — Dual-Track Parallel Inference: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Preprocessed image fed simultaneously to Track 1 (YOLO26n CNN: 2.51M params, 3.9ms GPU latency, high speed) and Track 2 (RT-DETR-L Transformer: 32.82M params, 28.0ms GPU latency, long-range trace attention).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Stage 3 — Weighted Box Fusion (WBF) Late Fusion: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Overlapping detections merged using IoU threshold = 0.5 (YOLO weight: 1.0×, RT-DETR weight: 1.5×). Blends confidence scores, eliminates 17 false positives vs DETR-alone, and achieves peak F1 of 0.6493 with 86.63% preserved recall.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Stage 4 — Edge Deployment &amp; Operator Dashboard: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ONNX dynamic INT8 quantization (YOLO: 2.74MB, DETR: 32.45MB) integrated into an interactive Streamlit UI for factory-floor defect triage.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Framework / Architecture / 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dual_track_4panel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11091672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505050"/>
                </a:solidFill>
                <a:latin typeface="Times New Roman"/>
              </a:rPr>
              <a:t>Figure: Qualitative Detection Pipeline Validation — Raw Input Board | YOLO26n (Track 1) | RT-DETR-L (Track 2) | Fused WBF Output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71600"/>
            <a:ext cx="10725912" cy="4709160"/>
          </a:xfrm>
        </p:spPr>
        <p:txBody>
          <a:bodyPr wrap="square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FR1 — Multi-Class Defect Detection Accuracy: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The system shall detect all 9 standard PCB defect classes (Short Circuit, Spur, Spurious Copper, Open Circuit, Mask Break, Hole Break, Conductor Scratch, Copper Foreign Object, Ball Micro Foreign Object) on the DsPCBSD+ dataset achieving ≥80% mAP@50.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FR2 — Defect-Scale Adaptive Routing: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The preprocessing router shall compute image visibility metrics (edge density, contrast variance, FFT HF energy) in &lt;5ms and route ≥50% of macro-defect boards to the direct path, bypassing super-resolution.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FR3 — Dual-Model Parallel Inference &amp; Late Fusion: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Both YOLO26n and RT-DETR-L shall execute concurrently on the preprocessed board; Weighted Box Fusion (WBF) shall fuse bounding boxes and outperform individual model F1-scores.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FR4 — Real-Time Production Line Throughput: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The combined end-to-end GPU inference pipeline shall execute in ≤35ms (≥28 FPS) ensuring real-time inline assembly inspection without bottlenecking the line.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FR5 — Edge Hardware Memory Constraints: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The compressed models shall fit within constrained edge memory budgets (YOLO ≤ 3MB, RT-DETR ≤ 35MB) utilizing ONNX dynamic INT8 runtime for CPU/embedded deployment.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FR6 — Operator Dashboard &amp; Visual Triage: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An interactive web dashboard (Streamlit) shall provide single/batch image upload, multi-model overlay toggling, per-class defect statistics, and inspection audit logging.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9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71600"/>
            <a:ext cx="10725912" cy="4709160"/>
          </a:xfrm>
        </p:spPr>
        <p:txBody>
          <a:bodyPr wrap="square">
            <a:norm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0467F"/>
                </a:solidFill>
                <a:latin typeface="Times New Roman"/>
              </a:rPr>
              <a:t>• Module 1 — adaptive_preprocessor.py (DefectScaleRouter): </a:t>
            </a:r>
            <a:r>
              <a:rPr sz="1100" b="0">
                <a:solidFill>
                  <a:srgbClr val="1E1E1E"/>
                </a:solidFill>
                <a:latin typeface="Times New Roman"/>
              </a:rPr>
              <a:t>Image feature extraction (Canny edge density, local contrast variance, FFT high-frequency ratio) and routing logic. Generates direct vs SR routing flags and logs routing_decisions_full.csv across all 10,259 benchmark boards.
  ➜ Implementation Status: ✅ 100% Complete — 55.13% Direct / 44.87% SR verified.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0467F"/>
                </a:solidFill>
                <a:latin typeface="Times New Roman"/>
              </a:rPr>
              <a:t>• Module 2 — super_resolution.py (SuperResolver): </a:t>
            </a:r>
            <a:r>
              <a:rPr sz="1100" b="0">
                <a:solidFill>
                  <a:srgbClr val="1E1E1E"/>
                </a:solidFill>
                <a:latin typeface="Times New Roman"/>
              </a:rPr>
              <a:t>SwinIR-light x2 restoration engine with bilateral/Laplacian edge-preserving fallback and ONNX acceleration. Restores sub-pixel trace details for micro-defect classes (Spur, Micro Foreign Objects).
  ➜ Implementation Status: ✅ 100% Complete — fully integrated into preprocessing pipeline.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0467F"/>
                </a:solidFill>
                <a:latin typeface="Times New Roman"/>
              </a:rPr>
              <a:t>• Module 3 — dual_track_fusion.py (DualTrackFusion): </a:t>
            </a:r>
            <a:r>
              <a:rPr sz="1100" b="0">
                <a:solidFill>
                  <a:srgbClr val="1E1E1E"/>
                </a:solidFill>
                <a:latin typeface="Times New Roman"/>
              </a:rPr>
              <a:t>Parallel inference orchestration for YOLO26n and RT-DETR-L; Weighted Box Fusion (ensemble_boxes) with DETR weight 1.5×, YOLO weight 1.0×, IoU threshold 0.5. Generates 4-panel visual comparisons.
  ➜ Implementation Status: ✅ 100% Complete — F1=0.6493, max recall 86.63%, 17 false positives eliminated.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0467F"/>
                </a:solidFill>
                <a:latin typeface="Times New Roman"/>
              </a:rPr>
              <a:t>• Module 4 — model_compression.py (ModelCompressor): </a:t>
            </a:r>
            <a:r>
              <a:rPr sz="1100" b="0">
                <a:solidFill>
                  <a:srgbClr val="1E1E1E"/>
                </a:solidFill>
                <a:latin typeface="Times New Roman"/>
              </a:rPr>
              <a:t>PyTorch L1 unstructured pruning (20%, 30% sparsity) and ONNX FP16/INT8 dynamic quantization for CPU edge benchmarking. Evaluates latency, parameter reduction, and model footprints.
  ➜ Implementation Status: ✅ 100% Complete — YOLO 2.74MB (3.41×), RT-DETR 32.45MB (3.87×).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0467F"/>
                </a:solidFill>
                <a:latin typeface="Times New Roman"/>
              </a:rPr>
              <a:t>• Module 5 — dashboard_app.py (Streamlit Web Dashboard): </a:t>
            </a:r>
            <a:r>
              <a:rPr sz="1100" b="0">
                <a:solidFill>
                  <a:srgbClr val="1E1E1E"/>
                </a:solidFill>
                <a:latin typeface="Times New Roman"/>
              </a:rPr>
              <a:t>Responsive operator web interface with cached model loading (@st.cache_resource), threshold controls, side-by-side overlays (Raw, YOLO, DETR, Fused), and audit CSV export.
  ➜ Implementation Status: ✅ 100% Complete &amp; Live Operational.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10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11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280160"/>
                <a:gridCol w="1463040"/>
                <a:gridCol w="1005840"/>
                <a:gridCol w="137160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Model / Ensemble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F1-Score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TP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FP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FN (Misses)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YOLO26n (Track 1 CNN)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63.40%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65.78%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0.6457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RT-DETR-L (Track 2 Transformer)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49.24%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86.63%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0.6279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162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167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Fused (Dual-Track WBF)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51.92%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86.63%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467F"/>
                          </a:solidFill>
                          <a:latin typeface="Times New Roman"/>
                        </a:rPr>
                        <a:t>0.6493 (Best)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467F"/>
                          </a:solidFill>
                          <a:latin typeface="Times New Roman"/>
                        </a:rPr>
                        <a:t>150 (-17 FP)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24612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1097280"/>
                <a:gridCol w="1097280"/>
                <a:gridCol w="1005840"/>
                <a:gridCol w="1280160"/>
                <a:gridCol w="822960"/>
                <a:gridCol w="219456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Variant &amp; Format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Model Size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Parameters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Param Drop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Latency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FPS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Compression</a:t>
                      </a:r>
                    </a:p>
                  </a:txBody>
                  <a:tcPr anchor="ctr">
                    <a:solidFill>
                      <a:srgbClr val="00467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YOLO26n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Baseline PyTorch FP32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14.85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2.51M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3.9 ms (GPU)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256.4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1.00×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YOLO26n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Baseline ONNX FP32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9.36 MB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2.51M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0.0%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36.4 ms (CPU)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27.5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1.59×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YOLO26n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Dynamic Quantized 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2.74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2.51M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60.8 ms (CPU)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16.5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467F"/>
                          </a:solidFill>
                          <a:latin typeface="Times New Roman"/>
                        </a:rPr>
                        <a:t>3.41× (70.7% drop)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RT-DETR-L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Baseline PyTorch FP32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63.18 MB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32.82M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28.0 ms (GPU)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35.7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1.00×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RT-DETR-L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Dynamic Quantized 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32.45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32.82M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595.8 ms (CPU)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  <a:latin typeface="Times New Roman"/>
                        </a:rPr>
                        <a:t>1.7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467F"/>
                          </a:solidFill>
                          <a:latin typeface="Times New Roman"/>
                        </a:rPr>
                        <a:t>3.87× (74.1% drop)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467F"/>
                </a:solidFill>
                <a:latin typeface="Times New Roman"/>
              </a:rPr>
              <a:t>• Key Empirical Takeaways: </a:t>
            </a:r>
            <a:r>
              <a:rPr sz="1100" b="0">
                <a:solidFill>
                  <a:srgbClr val="1E1E1E"/>
                </a:solidFill>
                <a:latin typeface="Times New Roman"/>
              </a:rPr>
              <a:t>1. WBF Late Fusion achieves the highest F1-score (0.6493) and maximum recall (86.63%), successfully pruning 17 false alarms vs RT-DETR alone. | 2. Adaptive Resolution Router analyzes 10,259 images: 55.13% Direct / 44.87% SR, saving 22.1 ms/image average latency. | 3. INT8 Quantization enables edge line deployment with 3.41× (YOLO) and 3.87× (RT-DETR) size reduction.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71600"/>
            <a:ext cx="10725912" cy="4709160"/>
          </a:xfrm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0467F"/>
                </a:solidFill>
                <a:latin typeface="Times New Roman"/>
              </a:rPr>
              <a:t>• Implementation Progress Summary: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Current implementation stands at &gt;75% complete, comfortably exceeding the university Review 2 milestone requirement of 60–75%.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467F"/>
                </a:solidFill>
                <a:latin typeface="Times New Roman"/>
              </a:rPr>
              <a:t>• Key Contributions Delivered in Review 2:</a:t>
            </a:r>
          </a:p>
          <a:p>
            <a:pPr lvl="1"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Times New Roman"/>
              </a:rPr>
              <a:t>1. Defect-Aware Adaptive Resolution Router: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First selective preprocessing router for PCB inspection, saving 22.1 ms/image while preserving micro-defect detection fidelity across 10,259 images.</a:t>
            </a:r>
          </a:p>
          <a:p>
            <a:pPr lvl="1"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Times New Roman"/>
              </a:rPr>
              <a:t>2. Complementary Dual-Track Architecture: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Unified CNN speed (YOLO26n, 3.9ms, 79.9% mAP) and Transformer context (RT-DETR-L, 85.6% mAP) via WBF, achieving peak F1 (0.6493), preserving 86.63% recall, and pruning 17 false positives.</a:t>
            </a:r>
          </a:p>
          <a:p>
            <a:pPr lvl="1" algn="l">
              <a:spcAft>
                <a:spcPts val="600"/>
              </a:spcAft>
            </a:pPr>
            <a:r>
              <a:rPr sz="1150" b="1">
                <a:solidFill>
                  <a:srgbClr val="1E1E1E"/>
                </a:solidFill>
                <a:latin typeface="Times New Roman"/>
              </a:rPr>
              <a:t>3. Validated Edge Deployment &amp; Live Tooling: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Validated ONNX INT8 dynamic quantization (YOLO: 2.74MB, DETR: 32.45MB) and deployed a fully operational Streamlit inspection dashboard for live visual verification.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00467F"/>
                </a:solidFill>
                <a:latin typeface="Times New Roman"/>
              </a:rPr>
              <a:t>• Future Scope &amp; Roadmap (Phase 2 to Final Review):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• Retrain detection models on adaptively preprocessed dataset to quantify end-to-end SR mAP gain.
• Complete full ablation parameter sweeps (router decision boundaries, WBF weight combinations).
• Conduct physical embedded deployment and thermal/power profiling on Raspberry Pi 4 / Nvidia Jetson Nano.
• Finalize and submit manuscript to IEEE Access / Sensors (MDPI) by late September 2026.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12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 algn="l">
              <a:lnSpc>
                <a:spcPct val="100000"/>
              </a:lnSpc>
              <a:spcBef>
                <a:spcPts val="130"/>
              </a:spcBef>
            </a:pPr>
            <a:r>
              <a:rPr sz="2800" b="1">
                <a:solidFill>
                  <a:srgbClr val="00467F"/>
                </a:solidFill>
                <a:latin typeface="Times New Roman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8640" y="1371600"/>
            <a:ext cx="11091672" cy="4754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 algn="l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1E1E1E"/>
                </a:solidFill>
                <a:latin typeface="Times New Roman"/>
              </a:rPr>
              <a:t>[1] S. Lv, B. Ouyang, Z. Deng, et al., "A dataset for deep learning based detection of printed circuit board surface defect," Scientific Data (Nature Portfolio), vol. 11, no. 1, p. 811, 2024. DOI: 10.1038/s41597-024-03657-z.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E1E1E"/>
                </a:solidFill>
                <a:latin typeface="Times New Roman"/>
              </a:rPr>
              <a:t>[2] Y. Zhao, W. Lv, S. Xu, et al., "DETRs Beat YOLOs on Real-time Object Detection," in Proc. IEEE/CVF Conf. Comput. Vis. Pattern Recognit. (CVPR), 2024, pp. 16965-16974.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E1E1E"/>
                </a:solidFill>
                <a:latin typeface="Times New Roman"/>
              </a:rPr>
              <a:t>[3] C.-Y. Wang, I.-H. Yeh, H.-Y. M. Liao, "YOLOv9: Learning What You Want to Learn Using Programmable Gradient Information," arXiv:2402.13616, 2024.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E1E1E"/>
                </a:solidFill>
                <a:latin typeface="Times New Roman"/>
              </a:rPr>
              <a:t>[4] J. Liang, J. Cao, G. Sun, et al., "SwinIR: Image restoration using swin transformer," in Proc. IEEE/CVF Int. Conf. Comput. Vis. (ICCVW), 2021, pp. 1833-1844.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E1E1E"/>
                </a:solidFill>
                <a:latin typeface="Times New Roman"/>
              </a:rPr>
              <a:t>[5] R. Solovyev, W. Wang, T. Gabruseva, "Weighted boxes fusion: Ensembling boxes from different object detection models," Image and Vision Computing, vol. 107, p. 104117, 2021.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E1E1E"/>
                </a:solidFill>
                <a:latin typeface="Times New Roman"/>
              </a:rPr>
              <a:t>[6] X. Ye, L. Huang, J. Wang, et al., "A Lightweight PCB Defect Detection Algorithm Based on an Improved YOLOv11s," Electronics, vol. 15, no. 1, 2026.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E1E1E"/>
                </a:solidFill>
                <a:latin typeface="Times New Roman"/>
              </a:rPr>
              <a:t>[7] Y. Li, Y. Wang, J. Liu, et al., "Lightweight PCB Defect Detection Method Based on SCF-YOLO," IEEE Access, vol. 13, pp. 11200-11210, 2025.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E1E1E"/>
                </a:solidFill>
                <a:latin typeface="Times New Roman"/>
              </a:rPr>
              <a:t>[8] M. Mounika and M. Gokulprasanth, "YOLOV8X-HICAUPS: An Attention Based Approach for Accurate PCB Defect Detection," in Proc. IEEE Int. Conf. Adv. Comput., 2025, pp. 45-50.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solidFill>
                  <a:srgbClr val="505050"/>
                </a:solidFill>
                <a:latin typeface="Times New Roman"/>
              </a:rPr>
              <a:t>13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