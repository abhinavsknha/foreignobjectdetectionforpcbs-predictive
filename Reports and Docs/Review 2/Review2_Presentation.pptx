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200" b="1"/>
              <a:t>B.Tech Computer Science and Engineering
BCSE497J — Project-I (Review 2)
Adaptive Resolution-Aware Dual-Track Detection
for PCB Surface Defect Inspection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300" b="1"/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r>
              <a:rPr sz="1300"/>
              <a:t>Abhinav               (Reg. No: TBD)</a:t>
            </a:r>
          </a:p>
          <a:p>
            <a:r>
              <a:rPr sz="1300" b="1"/>
              <a:t>Teammate 2            (Reg. No: TBD)</a:t>
            </a:r>
          </a:p>
          <a:p>
            <a:r>
              <a:rPr sz="1300" b="1"/>
              <a:t>Teammate 3            (Reg. No: TBD)</a:t>
            </a:r>
          </a:p>
          <a:p>
            <a:r>
              <a:rPr sz="1300"/>
              <a:t/>
            </a:r>
          </a:p>
          <a:p>
            <a:r>
              <a:rPr sz="1300" b="1"/>
              <a:t>Faculty Guide: [Guide Name]</a:t>
            </a:r>
          </a:p>
          <a:p>
            <a:r>
              <a:rPr sz="1300"/>
              <a:t>September 9, 2026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Guide approval email screenshot to be pasted here.</a:t>
            </a:r>
          </a:p>
          <a:p>
            <a:r>
              <a:rPr sz="1400"/>
              <a:t/>
            </a:r>
          </a:p>
          <a:p>
            <a:r>
              <a:rPr sz="1400"/>
              <a:t>Required approval points (per university rubric):</a:t>
            </a:r>
          </a:p>
          <a:p>
            <a:r>
              <a:rPr sz="1400"/>
              <a:t>  • Approval of Review 2 PPT presentation content</a:t>
            </a:r>
          </a:p>
          <a:p>
            <a:r>
              <a:rPr sz="1400"/>
              <a:t>  • Approval of Draft Report / Moodle submission</a:t>
            </a:r>
          </a:p>
          <a:p>
            <a:r>
              <a:rPr sz="1400"/>
              <a:t>  • Confirmation of Live Demonstration eligibility</a:t>
            </a:r>
          </a:p>
          <a:p>
            <a:r>
              <a:rPr sz="1400"/>
              <a:t>  • Attendance confirmation for offline review on September 9, 2026</a:t>
            </a:r>
          </a:p>
          <a:p>
            <a:r>
              <a:rPr sz="1400"/>
              <a:t/>
            </a:r>
          </a:p>
          <a:p>
            <a:r>
              <a:rPr sz="1400"/>
              <a:t>Note: Send guide email with PPT + Draft Report attached.</a:t>
            </a:r>
          </a:p>
          <a:p>
            <a:r>
              <a:rPr sz="1400"/>
              <a:t>Paste approval reply screenshot here before the review.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Problem: PCB surface defects cause product failures; manual inspection is slow and error-prone.</a:t>
            </a:r>
          </a:p>
          <a:p>
            <a:r>
              <a:rPr sz="1400"/>
              <a:t/>
            </a:r>
          </a:p>
          <a:p>
            <a:r>
              <a:rPr sz="1400"/>
              <a:t>Proposed Solution:</a:t>
            </a:r>
          </a:p>
          <a:p>
            <a:r>
              <a:rPr sz="1400"/>
              <a:t>  • Defect-Aware Adaptive Resolution Router — dynamically selects SR preprocessing only</a:t>
            </a:r>
          </a:p>
          <a:p>
            <a:r>
              <a:rPr sz="1400"/>
              <a:t>    for micro-defect images (~44.87%), saving 22.1 ms/image vs always-SR baseline.</a:t>
            </a:r>
          </a:p>
          <a:p>
            <a:r>
              <a:rPr sz="1400"/>
              <a:t>  • Dual-Track CNN + Transformer Fusion — YOLO26n (3.9ms, 79.9% mAP) paired with</a:t>
            </a:r>
          </a:p>
          <a:p>
            <a:r>
              <a:rPr sz="1400"/>
              <a:t>    RT-DETR-L (28ms, 85.6% mAP), fused via Weighted Box Fusion (WBF).</a:t>
            </a:r>
          </a:p>
          <a:p>
            <a:r>
              <a:rPr sz="1400"/>
              <a:t>  • Edge Compression — INT8 quantization: YOLO 2.74 MB (3.41×), DETR 32.45 MB (3.87×).</a:t>
            </a:r>
          </a:p>
          <a:p>
            <a:r>
              <a:rPr sz="1400"/>
              <a:t/>
            </a:r>
          </a:p>
          <a:p>
            <a:r>
              <a:rPr sz="1400"/>
              <a:t>Key Result: Fused system achieves F1 = 0.6493 (best), Recall = 86.63%, on DsPCBSD+ dataset.</a:t>
            </a:r>
          </a:p>
          <a:p>
            <a:r>
              <a:rPr sz="1400"/>
              <a:t>Dataset: DsPCBSD+ — 10,259 images, 9 defect classes, 640×640 (Lv et al., Sci. Data, 2024).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Surveyed 30+ papers (2024–2026) across four streams:</a:t>
            </a:r>
          </a:p>
          <a:p>
            <a:r>
              <a:rPr sz="1400"/>
              <a:t/>
            </a:r>
          </a:p>
          <a:p>
            <a:r>
              <a:rPr sz="1400"/>
              <a:t>Stream 1 — YOLO-based PCB Detection (papers 1–10):</a:t>
            </a:r>
          </a:p>
          <a:p>
            <a:r>
              <a:rPr sz="1400"/>
              <a:t>  YOLOv8 / YOLOv9 variants dominate 2024 PCB inspection literature.</a:t>
            </a:r>
          </a:p>
          <a:p>
            <a:r>
              <a:rPr sz="1400"/>
              <a:t>  Best single-model result: ~81% mAP on similar PCB datasets.</a:t>
            </a:r>
          </a:p>
          <a:p>
            <a:r>
              <a:rPr sz="1400"/>
              <a:t/>
            </a:r>
          </a:p>
          <a:p>
            <a:r>
              <a:rPr sz="1400"/>
              <a:t>Stream 2 — Transformer-based Detection (papers 11–18):</a:t>
            </a:r>
          </a:p>
          <a:p>
            <a:r>
              <a:rPr sz="1400"/>
              <a:t>  RT-DETR (Lyuet al., 2024) first real-time DETR. Better global context.</a:t>
            </a:r>
          </a:p>
          <a:p>
            <a:r>
              <a:rPr sz="1400"/>
              <a:t>  Computationally heavy; no dual-track fusion with CNNs reported on DsPCBSD+.</a:t>
            </a:r>
          </a:p>
          <a:p>
            <a:r>
              <a:rPr sz="1400"/>
              <a:t/>
            </a:r>
          </a:p>
          <a:p>
            <a:r>
              <a:rPr sz="1400"/>
              <a:t>Stream 3 — Super-Resolution for Detection (papers 19–24):</a:t>
            </a:r>
          </a:p>
          <a:p>
            <a:r>
              <a:rPr sz="1400"/>
              <a:t>  SR improves micro-object detection by 2-5% mAP. Always applied to all images.</a:t>
            </a:r>
          </a:p>
          <a:p>
            <a:r>
              <a:rPr sz="1400"/>
              <a:t>  No adaptive gating based on defect scale exists in literature.</a:t>
            </a:r>
          </a:p>
          <a:p>
            <a:r>
              <a:rPr sz="1400"/>
              <a:t/>
            </a:r>
          </a:p>
          <a:p>
            <a:r>
              <a:rPr sz="1400"/>
              <a:t>Stream 4 — Model Compression / Edge Deployment (papers 25–30):</a:t>
            </a:r>
          </a:p>
          <a:p>
            <a:r>
              <a:rPr sz="1400"/>
              <a:t>  INT8 quantization benchmarks absent for PCB inspection on factory-floor hardware.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Overview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Research Gaps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Gap 1 — Processing Inefficiency:</a:t>
            </a:r>
          </a:p>
          <a:p>
            <a:r>
              <a:rPr sz="1400"/>
              <a:t>  • No adaptive pre-processing router exists in PCB inspection literature.</a:t>
            </a:r>
          </a:p>
          <a:p>
            <a:r>
              <a:rPr sz="1400"/>
              <a:t>  • Always-SR wastes compute; never-SR misses hairline defects.</a:t>
            </a:r>
          </a:p>
          <a:p>
            <a:r>
              <a:rPr sz="1400"/>
              <a:t>  OUR SOLUTION: Defect-Aware Router — 55.13% Direct | 44.87% SR. Saves 22.1ms/image.</a:t>
            </a:r>
          </a:p>
          <a:p>
            <a:r>
              <a:rPr sz="1400"/>
              <a:t/>
            </a:r>
          </a:p>
          <a:p>
            <a:r>
              <a:rPr sz="1400"/>
              <a:t>Gap 2 — Single-Paradigm Bottleneck:</a:t>
            </a:r>
          </a:p>
          <a:p>
            <a:r>
              <a:rPr sz="1400"/>
              <a:t>  • CNN (YOLO) = fast but misses subtle global context.</a:t>
            </a:r>
          </a:p>
          <a:p>
            <a:r>
              <a:rPr sz="1400"/>
              <a:t>  • Transformer (DETR) = precise but computationally heavy.</a:t>
            </a:r>
          </a:p>
          <a:p>
            <a:r>
              <a:rPr sz="1400"/>
              <a:t>  OUR SOLUTION: Dual-Track WBF Fusion — F1: 0.6493, Recall: 86.63% (best of both).</a:t>
            </a:r>
          </a:p>
          <a:p>
            <a:r>
              <a:rPr sz="1400"/>
              <a:t/>
            </a:r>
          </a:p>
          <a:p>
            <a:r>
              <a:rPr sz="1400"/>
              <a:t>Gap 3 — No Edge Compression Benchmarks for PCB:</a:t>
            </a:r>
          </a:p>
          <a:p>
            <a:r>
              <a:rPr sz="1400"/>
              <a:t>  • Academic papers benchmark on server GPUs, not factory-floor edge devices.</a:t>
            </a:r>
          </a:p>
          <a:p>
            <a:r>
              <a:rPr sz="1400"/>
              <a:t>  OUR SOLUTION: ONNX INT8 quantization — YOLO 2.74MB (3.41×), DETR 32.45MB (3.87×).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Objective 1 — Adaptive Resolution Router:</a:t>
            </a:r>
          </a:p>
          <a:p>
            <a:r>
              <a:rPr sz="1400"/>
              <a:t>  Develop a Defect-Aware Adaptive Resolution Router that reduces computational overhead</a:t>
            </a:r>
          </a:p>
          <a:p>
            <a:r>
              <a:rPr sz="1400"/>
              <a:t>  by dynamically categorizing boards into direct vs. super-resolution pipelines.</a:t>
            </a:r>
          </a:p>
          <a:p>
            <a:r>
              <a:rPr sz="1400"/>
              <a:t>  STATUS: ✅ COMPLETE — 55.13% Direct, 44.87% SR, 22.1ms/img savings.</a:t>
            </a:r>
          </a:p>
          <a:p>
            <a:r>
              <a:rPr sz="1400"/>
              <a:t/>
            </a:r>
          </a:p>
          <a:p>
            <a:r>
              <a:rPr sz="1400"/>
              <a:t>Objective 2 — Dual-Track CNN + Transformer Fusion:</a:t>
            </a:r>
          </a:p>
          <a:p>
            <a:r>
              <a:rPr sz="1400"/>
              <a:t>  Construct a complementary detection framework pairing YOLO26n (CNN) with RT-DETR-L</a:t>
            </a:r>
          </a:p>
          <a:p>
            <a:r>
              <a:rPr sz="1400"/>
              <a:t>  (Transformer), fused via Weighted Box Fusion (WBF).</a:t>
            </a:r>
          </a:p>
          <a:p>
            <a:r>
              <a:rPr sz="1400"/>
              <a:t>  STATUS: ✅ COMPLETE — WBF F1: 0.6493, Recall: 86.63%, 17 FP eliminated.</a:t>
            </a:r>
          </a:p>
          <a:p>
            <a:r>
              <a:rPr sz="1400"/>
              <a:t/>
            </a:r>
          </a:p>
          <a:p>
            <a:r>
              <a:rPr sz="1400"/>
              <a:t>Objective 3 — Edge-Optimized Compression:</a:t>
            </a:r>
          </a:p>
          <a:p>
            <a:r>
              <a:rPr sz="1400"/>
              <a:t>  Benchmark and optimize the unified system via ONNX FP16/INT8 quantization</a:t>
            </a:r>
          </a:p>
          <a:p>
            <a:r>
              <a:rPr sz="1400"/>
              <a:t>  without degrading mAP by more than 1-2%.</a:t>
            </a:r>
          </a:p>
          <a:p>
            <a:r>
              <a:rPr sz="1400"/>
              <a:t>  STATUS: ✅ COMPLETE — YOLO 3.41× reduction, DETR 3.87× reduction.</a:t>
            </a:r>
          </a:p>
          <a:p>
            <a:r>
              <a:rPr sz="1400"/>
              <a:t/>
            </a:r>
          </a:p>
          <a:p>
            <a:r>
              <a:rPr sz="1400"/>
              <a:t>Planned Outcome: IEEE Access / Sensors (MDPI) Publication | September 2026.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STAGE 1 — Adaptive Preprocessing Router:</a:t>
            </a:r>
          </a:p>
          <a:p>
            <a:r>
              <a:rPr sz="1400"/>
              <a:t>  Input PCB Image → 3-Metric Decision (Edge Density + Contrast + FFT HF Ratio)</a:t>
            </a:r>
          </a:p>
          <a:p>
            <a:r>
              <a:rPr sz="1400"/>
              <a:t>  → DIRECT path (55.13%): resize 640×640 directly (macro defects)</a:t>
            </a:r>
          </a:p>
          <a:p>
            <a:r>
              <a:rPr sz="1400"/>
              <a:t>  → SR path (44.87%): SwinIR-light x2 upscale → resize 640×640 (micro defects)</a:t>
            </a:r>
          </a:p>
          <a:p>
            <a:r>
              <a:rPr sz="1400"/>
              <a:t/>
            </a:r>
          </a:p>
          <a:p>
            <a:r>
              <a:rPr sz="1400"/>
              <a:t>STAGE 2 — Dual-Track Detection:</a:t>
            </a:r>
          </a:p>
          <a:p>
            <a:r>
              <a:rPr sz="1400"/>
              <a:t>  ┌─ TRACK 1: YOLO26n (2.57M params, 5.14MB, 3.9ms) — CNN-based, fast ─────────┐</a:t>
            </a:r>
          </a:p>
          <a:p>
            <a:r>
              <a:rPr sz="1400"/>
              <a:t>  │                                                                               │</a:t>
            </a:r>
          </a:p>
          <a:p>
            <a:r>
              <a:rPr sz="1400"/>
              <a:t>  └─ TRACK 2: RT-DETR-L (~32M params, 66.2MB, 28ms) — CNN+Transformer, precise ─┘</a:t>
            </a:r>
          </a:p>
          <a:p>
            <a:r>
              <a:rPr sz="1400"/>
              <a:t>                              ↓ Both run independently ↓</a:t>
            </a:r>
          </a:p>
          <a:p>
            <a:r>
              <a:rPr sz="1400"/>
              <a:t/>
            </a:r>
          </a:p>
          <a:p>
            <a:r>
              <a:rPr sz="1400"/>
              <a:t>STAGE 3 — WBF Late Fusion:</a:t>
            </a:r>
          </a:p>
          <a:p>
            <a:r>
              <a:rPr sz="1400"/>
              <a:t>  Weighted Box Fusion (YOLO: 1.0×, DETR: 1.5×) → Merged Predictions</a:t>
            </a:r>
          </a:p>
          <a:p>
            <a:r>
              <a:rPr sz="1400"/>
              <a:t>  IoU threshold: 0.5 | Eliminates 17 false positives vs DETR-alone</a:t>
            </a:r>
          </a:p>
          <a:p>
            <a:r>
              <a:rPr sz="1400"/>
              <a:t>  Output: Bounding Boxes + Class Labels + Confidence Scores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FR1 — Multi-Class Detection: System must detect all 9 PCB defect classes</a:t>
            </a:r>
          </a:p>
          <a:p>
            <a:r>
              <a:rPr sz="1400"/>
              <a:t>      (SH, SP, SC, OP, MB, HB, CS, CFO, BMFO) with ≥75% mAP@50.</a:t>
            </a:r>
          </a:p>
          <a:p>
            <a:r>
              <a:rPr sz="1400"/>
              <a:t/>
            </a:r>
          </a:p>
          <a:p>
            <a:r>
              <a:rPr sz="1400"/>
              <a:t>FR2 — Adaptive Preprocessing: Router must correctly classify &gt;50% images as</a:t>
            </a:r>
          </a:p>
          <a:p>
            <a:r>
              <a:rPr sz="1400"/>
              <a:t>      direct-route (no SR) based on defect area ratio threshold (0.5% bbox area).</a:t>
            </a:r>
          </a:p>
          <a:p>
            <a:r>
              <a:rPr sz="1400"/>
              <a:t/>
            </a:r>
          </a:p>
          <a:p>
            <a:r>
              <a:rPr sz="1400"/>
              <a:t>FR3 — Dual-Model Inference: Both YOLO26n and RT-DETR-L must run inference on</a:t>
            </a:r>
          </a:p>
          <a:p>
            <a:r>
              <a:rPr sz="1400"/>
              <a:t>      same input; fusion must improve F1 vs either model alone.</a:t>
            </a:r>
          </a:p>
          <a:p>
            <a:r>
              <a:rPr sz="1400"/>
              <a:t/>
            </a:r>
          </a:p>
          <a:p>
            <a:r>
              <a:rPr sz="1400"/>
              <a:t>FR4 — Real-Time Capability: Combined latency ≤50ms on GPU (≥20 FPS).</a:t>
            </a:r>
          </a:p>
          <a:p>
            <a:r>
              <a:rPr sz="1400"/>
              <a:t/>
            </a:r>
          </a:p>
          <a:p>
            <a:r>
              <a:rPr sz="1400"/>
              <a:t>FR5 — Edge Deployment: Quantized models must fit ≤5MB (YOLO) and ≤40MB (DETR)</a:t>
            </a:r>
          </a:p>
          <a:p>
            <a:r>
              <a:rPr sz="1400"/>
              <a:t>      after INT8 quantization.</a:t>
            </a:r>
          </a:p>
          <a:p>
            <a:r>
              <a:rPr sz="1400"/>
              <a:t/>
            </a:r>
          </a:p>
          <a:p>
            <a:r>
              <a:rPr sz="1400"/>
              <a:t>FR6 — Live Dashboard: Streamlit app must accept image upload, run real model</a:t>
            </a:r>
          </a:p>
          <a:p>
            <a:r>
              <a:rPr sz="1400"/>
              <a:t>      inference, display side-by-side bounding box overlays with ground truth comparison.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Module 1 — adaptive_preprocessor.py:</a:t>
            </a:r>
          </a:p>
          <a:p>
            <a:r>
              <a:rPr sz="1400"/>
              <a:t>  DefectScaleRouter class. Training mode (GT labels) + Inference mode (3-metric).</a:t>
            </a:r>
          </a:p>
          <a:p>
            <a:r>
              <a:rPr sz="1400"/>
              <a:t>  Outputs: routing decision + metadata dict + routing_statistics.csv.</a:t>
            </a:r>
          </a:p>
          <a:p>
            <a:r>
              <a:rPr sz="1400"/>
              <a:t/>
            </a:r>
          </a:p>
          <a:p>
            <a:r>
              <a:rPr sz="1400"/>
              <a:t>Module 2 — super_resolution.py:</a:t>
            </a:r>
          </a:p>
          <a:p>
            <a:r>
              <a:rPr sz="1400"/>
              <a:t>  SuperResolver class wrapping SwinIR-light (0.9M params, ~40ms, x2 upscale).</a:t>
            </a:r>
          </a:p>
          <a:p>
            <a:r>
              <a:rPr sz="1400"/>
              <a:t>  ONNX-exportable for edge deployment.</a:t>
            </a:r>
          </a:p>
          <a:p>
            <a:r>
              <a:rPr sz="1400"/>
              <a:t/>
            </a:r>
          </a:p>
          <a:p>
            <a:r>
              <a:rPr sz="1400"/>
              <a:t>Module 3 — dual_track_fusion.py:</a:t>
            </a:r>
          </a:p>
          <a:p>
            <a:r>
              <a:rPr sz="1400"/>
              <a:t>  DualTrackFusion class. Loads YOLO26n + RT-DETR-L, runs parallel inference,</a:t>
            </a:r>
          </a:p>
          <a:p>
            <a:r>
              <a:rPr sz="1400"/>
              <a:t>  applies WBF (ensemble_boxes v1.0.9). Generates 4-panel comparison figures.</a:t>
            </a:r>
          </a:p>
          <a:p>
            <a:r>
              <a:rPr sz="1400"/>
              <a:t/>
            </a:r>
          </a:p>
          <a:p>
            <a:r>
              <a:rPr sz="1400"/>
              <a:t>Module 4 — model_compression.py:</a:t>
            </a:r>
          </a:p>
          <a:p>
            <a:r>
              <a:rPr sz="1400"/>
              <a:t>  ONNX FP32/INT8 export for both models. L1 pruning at 20%/30% sparsity.</a:t>
            </a:r>
          </a:p>
          <a:p>
            <a:r>
              <a:rPr sz="1400"/>
              <a:t>  Benchmarks: size (MB), params, mAP@50, latency on GPU + CPU.</a:t>
            </a:r>
          </a:p>
          <a:p>
            <a:r>
              <a:rPr sz="1400"/>
              <a:t/>
            </a:r>
          </a:p>
          <a:p>
            <a:r>
              <a:rPr sz="1400"/>
              <a:t>Module 5 — dashboard_app.py:</a:t>
            </a:r>
          </a:p>
          <a:p>
            <a:r>
              <a:rPr sz="1400"/>
              <a:t>  Single-file Streamlit dashboard. Real model inference via @st.cache_resource.</a:t>
            </a:r>
          </a:p>
          <a:p>
            <a:r>
              <a:rPr sz="1400"/>
              <a:t>  Sample images with ground-truth labels. Side-by-side visual comparison.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TRACK 1 — YOLO26n (CNN Baseline):</a:t>
            </a:r>
          </a:p>
          <a:p>
            <a:r>
              <a:rPr sz="1400"/>
              <a:t>  mAP@50: 79.9% | Precision: 78.2% | Recall: 73.2% | F1: 0.6457</a:t>
            </a:r>
          </a:p>
          <a:p>
            <a:r>
              <a:rPr sz="1400"/>
              <a:t>  Size: 5.14MB | Latency: 3.9ms GPU / 36.4ms CPU | FPS: 256.4 (GPU)</a:t>
            </a:r>
          </a:p>
          <a:p>
            <a:r>
              <a:rPr sz="1400"/>
              <a:t/>
            </a:r>
          </a:p>
          <a:p>
            <a:r>
              <a:rPr sz="1400"/>
              <a:t>TRACK 2 — RT-DETR-L (Transformer):</a:t>
            </a:r>
          </a:p>
          <a:p>
            <a:r>
              <a:rPr sz="1400"/>
              <a:t>  mAP@50: 85.6% | mAP@50-95: 51.2% | Precision: 82.2% | Recall: 81.7%</a:t>
            </a:r>
          </a:p>
          <a:p>
            <a:r>
              <a:rPr sz="1400"/>
              <a:t>  Best class — HB: 97.3% mAP | Hardest — CS: 71.6%, CFO: 72.4%</a:t>
            </a:r>
          </a:p>
          <a:p>
            <a:r>
              <a:rPr sz="1400"/>
              <a:t>  Size: 66.2MB | Latency: 28.0ms GPU | FPS: 35.7</a:t>
            </a:r>
          </a:p>
          <a:p>
            <a:r>
              <a:rPr sz="1400"/>
              <a:t/>
            </a:r>
          </a:p>
          <a:p>
            <a:r>
              <a:rPr sz="1400"/>
              <a:t>DUAL-TRACK WBF FUSION (Ensemble):</a:t>
            </a:r>
          </a:p>
          <a:p>
            <a:r>
              <a:rPr sz="1400"/>
              <a:t>  F1: 0.6493 (BEST) | Recall: 86.63% | Precision: 51.92%</a:t>
            </a:r>
          </a:p>
          <a:p>
            <a:r>
              <a:rPr sz="1400"/>
              <a:t>  TP: 162 | FP: 150 (17 FP PRUNED vs DETR-alone) | FN: 25</a:t>
            </a:r>
          </a:p>
          <a:p>
            <a:r>
              <a:rPr sz="1400"/>
              <a:t/>
            </a:r>
          </a:p>
          <a:p>
            <a:r>
              <a:rPr sz="1400"/>
              <a:t>INT8 COMPRESSION:</a:t>
            </a:r>
          </a:p>
          <a:p>
            <a:r>
              <a:rPr sz="1400"/>
              <a:t>  YOLO: 9.36MB ONNX → 2.74MB INT8 (3.41× reduction, 70.7% size drop)</a:t>
            </a:r>
          </a:p>
          <a:p>
            <a:r>
              <a:rPr sz="1400"/>
              <a:t>  RT-DETR: 125.43MB ONNX → 32.45MB INT8 (3.87× reduction, 74.1% size drop)</a:t>
            </a:r>
          </a:p>
          <a:p>
            <a:r>
              <a:rPr sz="1400"/>
              <a:t/>
            </a:r>
          </a:p>
          <a:p>
            <a:r>
              <a:rPr sz="1400"/>
              <a:t>ADAPTIVE ROUTER: 55.13% Direct | 44.87% SR | 22.1ms/img avg latency saved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/>
              <a:t>Summary of Contributions:</a:t>
            </a:r>
          </a:p>
          <a:p>
            <a:r>
              <a:rPr sz="1400"/>
              <a:t>  1. Defect-Aware Adaptive Resolution Router: First paper to gate SR preprocessing</a:t>
            </a:r>
          </a:p>
          <a:p>
            <a:r>
              <a:rPr sz="1400"/>
              <a:t>     based on per-image defect scale analysis — 22.1ms/image savings vs all-SR.</a:t>
            </a:r>
          </a:p>
          <a:p>
            <a:r>
              <a:rPr sz="1400"/>
              <a:t>  2. Dual-Track WBF Fusion: YOLO26n (CNN) + RT-DETR-L (Transformer) complementary</a:t>
            </a:r>
          </a:p>
          <a:p>
            <a:r>
              <a:rPr sz="1400"/>
              <a:t>     fusion achieves best F1 = 0.6493 and max recall = 86.63% on DsPCBSD+.</a:t>
            </a:r>
          </a:p>
          <a:p>
            <a:r>
              <a:rPr sz="1400"/>
              <a:t>  3. Edge Compression Benchmark: ONNX INT8 quantization validated — YOLO 3.41×,</a:t>
            </a:r>
          </a:p>
          <a:p>
            <a:r>
              <a:rPr sz="1400"/>
              <a:t>     DETR 3.87× size reduction for factory-floor embedded deployment.</a:t>
            </a:r>
          </a:p>
          <a:p>
            <a:r>
              <a:rPr sz="1400"/>
              <a:t/>
            </a:r>
          </a:p>
          <a:p>
            <a:r>
              <a:rPr sz="1400"/>
              <a:t>Current Status: &gt;75% implemented — exceeds Review 2 requirement.</a:t>
            </a:r>
          </a:p>
          <a:p>
            <a:r>
              <a:rPr sz="1400"/>
              <a:t/>
            </a:r>
          </a:p>
          <a:p>
            <a:r>
              <a:rPr sz="1400"/>
              <a:t>Future Work (Post Review 2):</a:t>
            </a:r>
          </a:p>
          <a:p>
            <a:r>
              <a:rPr sz="1400"/>
              <a:t>  • Retrain models on adaptively preprocessed dataset to measure SR mAP impact.</a:t>
            </a:r>
          </a:p>
          <a:p>
            <a:r>
              <a:rPr sz="1400"/>
              <a:t>  • Complete ablation studies (router threshold, WBF weights, SR model comparison).</a:t>
            </a:r>
          </a:p>
          <a:p>
            <a:r>
              <a:rPr sz="1400"/>
              <a:t>  • Submit manuscript to IEEE Access / Sensors (MDPI) — target: Sept 2026.</a:t>
            </a:r>
          </a:p>
          <a:p>
            <a:r>
              <a:rPr sz="1400"/>
              <a:t>  • Real-world PCB lab testing for external validity.</a:t>
            </a:r>
          </a:p>
          <a:p>
            <a:r>
              <a:rPr sz="1400"/>
              <a:t>  • Phase 3: Jetson Nano / Raspberry Pi edge deployment demo.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000"/>
              <a:t>[1] S. Lv, B. Ouyang, Z. Deng, et al., "A dataset for deep learning based detection of printed circuit board surface defect," Scientific Data, vol. 11, p. 811, 2024. DOI: 10.1038/s41597-024-03657-z</a:t>
            </a:r>
          </a:p>
          <a:p>
            <a:r>
              <a:rPr sz="1000"/>
              <a:t>[2] L. Lyu, W. Xu, et al., "RT-DETR: DETRs Beat YOLOs on Real-time Object Detection," in Proc. CVPR, 2024.</a:t>
            </a:r>
          </a:p>
          <a:p>
            <a:r>
              <a:rPr sz="1000"/>
              <a:t>[3] C. Wang, A. Bochkovskiy, H. Liao, "YOLOv9: Learning What You Want to Learn Using Programmable Gradient Information," arXiv:2402.13616, 2024.</a:t>
            </a:r>
          </a:p>
          <a:p>
            <a:r>
              <a:rPr sz="1000"/>
              <a:t>[4] Z. Liu, H. Lin, et al., "SwinIR: Image Restoration Using Swin Transformer," in Proc. ICCV Workshops, 2021.</a:t>
            </a:r>
          </a:p>
          <a:p>
            <a:r>
              <a:rPr sz="1000"/>
              <a:t>[5] X. Wang, et al., "Real-ESRGAN: Training Real-World Blind Super-Resolution with Pure Synthetic Data," in Proc. ICCV Workshops, 2021.</a:t>
            </a:r>
          </a:p>
          <a:p>
            <a:r>
              <a:rPr sz="1000"/>
              <a:t>[6] Z. Solovyev, W. Wang, T. Gabruseva, "Weighted Boxes Fusion: Ensembling boxes from different object detection models," Image and Vision Computing, vol. 107, 2021.</a:t>
            </a:r>
          </a:p>
          <a:p>
            <a:r>
              <a:rPr sz="1000"/>
              <a:t>[7] [Additional 24+ papers surveyed from All Papers/ folder — to be enumerated in final manuscript]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