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3" r:id="rId5"/>
    <p:sldId id="264" r:id="rId6"/>
    <p:sldId id="260" r:id="rId7"/>
    <p:sldId id="261" r:id="rId8"/>
    <p:sldId id="262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780819" y="1717979"/>
            <a:ext cx="8924544" cy="2502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Computer Science and Engineering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BCSE497J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Deep Learning for PCB Defect Detection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(17972UG04)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707411" y="4220202"/>
            <a:ext cx="7071360" cy="2180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Team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members:</a:t>
            </a:r>
            <a:r>
              <a:rPr lang="en-GB" sz="2000" spc="-10" dirty="0">
                <a:latin typeface="Times New Roman"/>
                <a:cs typeface="Times New Roman"/>
              </a:rPr>
              <a:t> </a:t>
            </a:r>
            <a:endParaRPr lang="en-GB"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GB" sz="2000" b="1" dirty="0">
                <a:latin typeface="Times New Roman"/>
                <a:cs typeface="Times New Roman"/>
              </a:rPr>
              <a:t>Abhinav Kumar Sinha	  	(23BCE0565)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Janie M. </a:t>
            </a:r>
            <a:r>
              <a:rPr lang="en-IN" sz="2000" b="1" dirty="0" err="1">
                <a:latin typeface="Times New Roman"/>
                <a:cs typeface="Times New Roman"/>
              </a:rPr>
              <a:t>Sidhikh</a:t>
            </a:r>
            <a:r>
              <a:rPr lang="en-IN" sz="2000" b="1" dirty="0">
                <a:latin typeface="Times New Roman"/>
                <a:cs typeface="Times New Roman"/>
              </a:rPr>
              <a:t>	  	(23BCB0020)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Atharva Rahul </a:t>
            </a:r>
            <a:r>
              <a:rPr lang="en-IN" sz="2000" b="1" dirty="0" err="1">
                <a:latin typeface="Times New Roman"/>
                <a:cs typeface="Times New Roman"/>
              </a:rPr>
              <a:t>Tambakhe</a:t>
            </a:r>
            <a:r>
              <a:rPr lang="en-IN" sz="2000" b="1" dirty="0">
                <a:latin typeface="Times New Roman"/>
                <a:cs typeface="Times New Roman"/>
              </a:rPr>
              <a:t> 	(23BCT0182)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lang="en-IN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guide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50" dirty="0">
                <a:latin typeface="Times New Roman"/>
                <a:cs typeface="Times New Roman"/>
              </a:rPr>
              <a:t>:</a:t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z="2000" b="1" dirty="0">
                <a:latin typeface="Times New Roman"/>
                <a:cs typeface="Times New Roman"/>
              </a:rPr>
              <a:t>Dr. Parthiban K			(SCOPE)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systematically review and analyse recent lightweight deep learning approaches for PCB defect detection, identifying their strengths, limitations, and research gaps.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and benchmark an efficient PCB defect detection framework that balances detection accuracy with real-time, edge-deployable performance.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0633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Printed Circuit Board (PCB) defect inspection is a critical quality-control process, but manual inspection is slow, inconsistent, and difficult to scale.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deep learning models, particularly lightweight YOLO and Transformer-based architectures, have significantly improved automated PCB defect detection while enabling real-time industrial applications.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presents a systematic review of 20 recent (2025) studies,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architectures, datasets, performance, strengths, and limitations.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identified research gaps, we propose a two-track framework comprising a lightweight edge-deployment model and a high-accuracy hybrid model for future implementation and evaluation.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aims to provide design guidelines, identify open research challenges, and support the development of efficient, real-world PCB defect detection systems.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- Paper Summary (1/2)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29-07-2026</a:t>
            </a:fld>
            <a:endParaRPr lang="en-IN"/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EAD0902-05A7-5CA5-D388-582E03CE7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453273"/>
              </p:ext>
            </p:extLst>
          </p:nvPr>
        </p:nvGraphicFramePr>
        <p:xfrm>
          <a:off x="650158" y="1386804"/>
          <a:ext cx="10891684" cy="4840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03">
                  <a:extLst>
                    <a:ext uri="{9D8B030D-6E8A-4147-A177-3AD203B41FA5}">
                      <a16:colId xmlns:a16="http://schemas.microsoft.com/office/drawing/2014/main" val="71382685"/>
                    </a:ext>
                  </a:extLst>
                </a:gridCol>
                <a:gridCol w="1818968">
                  <a:extLst>
                    <a:ext uri="{9D8B030D-6E8A-4147-A177-3AD203B41FA5}">
                      <a16:colId xmlns:a16="http://schemas.microsoft.com/office/drawing/2014/main" val="3532991235"/>
                    </a:ext>
                  </a:extLst>
                </a:gridCol>
                <a:gridCol w="2389239">
                  <a:extLst>
                    <a:ext uri="{9D8B030D-6E8A-4147-A177-3AD203B41FA5}">
                      <a16:colId xmlns:a16="http://schemas.microsoft.com/office/drawing/2014/main" val="799692770"/>
                    </a:ext>
                  </a:extLst>
                </a:gridCol>
                <a:gridCol w="1484671">
                  <a:extLst>
                    <a:ext uri="{9D8B030D-6E8A-4147-A177-3AD203B41FA5}">
                      <a16:colId xmlns:a16="http://schemas.microsoft.com/office/drawing/2014/main" val="1595569315"/>
                    </a:ext>
                  </a:extLst>
                </a:gridCol>
                <a:gridCol w="3254477">
                  <a:extLst>
                    <a:ext uri="{9D8B030D-6E8A-4147-A177-3AD203B41FA5}">
                      <a16:colId xmlns:a16="http://schemas.microsoft.com/office/drawing/2014/main" val="1590662020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762511763"/>
                    </a:ext>
                  </a:extLst>
                </a:gridCol>
              </a:tblGrid>
              <a:tr h="1673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 / Cons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175112718"/>
                  </a:ext>
                </a:extLst>
              </a:tr>
              <a:tr h="418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YOLOv11s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real-time detection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EfficientViT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C3k2 + Wise-IoU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+Fast, compact / −Synthetic validation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92.3%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227 FPS</a:t>
                      </a: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860548680"/>
                  </a:ext>
                </a:extLst>
              </a:tr>
              <a:tr h="418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SCF-YOLO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Edge-efficient PCB detection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MobileNetV3 + SCF + CIoU/GIoU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+Lightweight / −Limited diversity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speed–accuracy trade-off</a:t>
                      </a: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46465702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GESC-YOLO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 model complexity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GSConv + C2f-GE + Slim Neck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+Low parameters / −Slight accuracy loss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 with fewer FLOPs</a:t>
                      </a: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2232677151"/>
                  </a:ext>
                </a:extLst>
              </a:tr>
              <a:tr h="418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 + Adaptive Pruning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edge deployment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GroupConv + LAMP pruning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+60% smaller / −Tiny-defect loss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than YOLOv8n baseline</a:t>
                      </a: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2709791559"/>
                  </a:ext>
                </a:extLst>
              </a:tr>
              <a:tr h="418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MAS-YOLO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small-defect detection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MECS + AHFIN + SAL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+Robust / −Higher latency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multi-scale performance</a:t>
                      </a: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3883587166"/>
                  </a:ext>
                </a:extLst>
              </a:tr>
              <a:tr h="418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YOLO-DefXpert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tiny-defect detection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YOLOv11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+99%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−Dataset-specific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 HRIPCB results</a:t>
                      </a: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2242127138"/>
                  </a:ext>
                </a:extLst>
              </a:tr>
              <a:tr h="418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YOLOv12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 misses &amp; false alarms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 + BiFPN + PPA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+Higher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−Higher computation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+5.8% mAP@50</a:t>
                      </a: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2391407671"/>
                  </a:ext>
                </a:extLst>
              </a:tr>
              <a:tr h="418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MSES-YOLOv10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tiny PCB defects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MSES + SPDConv + Distillation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+Compact / −Complex training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98.9% mAP, 68 FPS</a:t>
                      </a: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144317256"/>
                  </a:ext>
                </a:extLst>
              </a:tr>
              <a:tr h="418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YOLOv8n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Embedded deployment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HFPM + DKAM + DFFN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+Lightweight / −Background sensitivity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 FPS, 4.57 MB</a:t>
                      </a: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318659369"/>
                  </a:ext>
                </a:extLst>
              </a:tr>
              <a:tr h="2928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YOLOv8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feature extraction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PConv + MLCA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+Accurate / −Private dataset</a:t>
                      </a:r>
                    </a:p>
                  </a:txBody>
                  <a:tcPr marL="41840" marR="41840" marT="20920" marB="209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87.3% accuracy</a:t>
                      </a:r>
                    </a:p>
                  </a:txBody>
                  <a:tcPr marL="41840" marR="41840" marT="20920" marB="20920" anchor="ctr"/>
                </a:tc>
                <a:extLst>
                  <a:ext uri="{0D108BD9-81ED-4DB2-BD59-A6C34878D82A}">
                    <a16:rowId xmlns:a16="http://schemas.microsoft.com/office/drawing/2014/main" val="34077964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- Paper Summary (2/2)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29-07-2026</a:t>
            </a:fld>
            <a:endParaRPr lang="en-IN"/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1DC1ADD-E414-60C1-6AC7-0A46F98B6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773425"/>
              </p:ext>
            </p:extLst>
          </p:nvPr>
        </p:nvGraphicFramePr>
        <p:xfrm>
          <a:off x="838200" y="1402228"/>
          <a:ext cx="10515599" cy="4965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231">
                  <a:extLst>
                    <a:ext uri="{9D8B030D-6E8A-4147-A177-3AD203B41FA5}">
                      <a16:colId xmlns:a16="http://schemas.microsoft.com/office/drawing/2014/main" val="946560173"/>
                    </a:ext>
                  </a:extLst>
                </a:gridCol>
                <a:gridCol w="1565891">
                  <a:extLst>
                    <a:ext uri="{9D8B030D-6E8A-4147-A177-3AD203B41FA5}">
                      <a16:colId xmlns:a16="http://schemas.microsoft.com/office/drawing/2014/main" val="1506969567"/>
                    </a:ext>
                  </a:extLst>
                </a:gridCol>
                <a:gridCol w="2284823">
                  <a:extLst>
                    <a:ext uri="{9D8B030D-6E8A-4147-A177-3AD203B41FA5}">
                      <a16:colId xmlns:a16="http://schemas.microsoft.com/office/drawing/2014/main" val="2596608069"/>
                    </a:ext>
                  </a:extLst>
                </a:gridCol>
                <a:gridCol w="1959826">
                  <a:extLst>
                    <a:ext uri="{9D8B030D-6E8A-4147-A177-3AD203B41FA5}">
                      <a16:colId xmlns:a16="http://schemas.microsoft.com/office/drawing/2014/main" val="3521942328"/>
                    </a:ext>
                  </a:extLst>
                </a:gridCol>
                <a:gridCol w="2457829">
                  <a:extLst>
                    <a:ext uri="{9D8B030D-6E8A-4147-A177-3AD203B41FA5}">
                      <a16:colId xmlns:a16="http://schemas.microsoft.com/office/drawing/2014/main" val="1838208258"/>
                    </a:ext>
                  </a:extLst>
                </a:gridCol>
                <a:gridCol w="1904999">
                  <a:extLst>
                    <a:ext uri="{9D8B030D-6E8A-4147-A177-3AD203B41FA5}">
                      <a16:colId xmlns:a16="http://schemas.microsoft.com/office/drawing/2014/main" val="4076827439"/>
                    </a:ext>
                  </a:extLst>
                </a:gridCol>
              </a:tblGrid>
              <a:tr h="15403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 / Cons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1183860074"/>
                  </a:ext>
                </a:extLst>
              </a:tr>
              <a:tr h="3850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NeoPCB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-YOLO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industrial accuracy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FDConv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YOLOv8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+95.6% mAP / −FFT overhead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Outperforms YOLOv8n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525263749"/>
                  </a:ext>
                </a:extLst>
              </a:tr>
              <a:tr h="50059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RF-YOLO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feature extraction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RFCAConv + FDPN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+Better localization / −Added complexity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detection accuracy*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3840852997"/>
                  </a:ext>
                </a:extLst>
              </a:tr>
              <a:tr h="3850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ABF-YOLO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Fine-grained defect detection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Axial Attention + BiFusion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+97.7% mAP / −Higher computation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 small defects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2743793672"/>
                  </a:ext>
                </a:extLst>
              </a:tr>
              <a:tr h="3850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YOLOv8x-HICAUps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 complex backgrounds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HorNet + CBAM + CARAFE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+Robust / −Large model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detection accuracy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3050068755"/>
                  </a:ext>
                </a:extLst>
              </a:tr>
              <a:tr h="50059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GAN-YOLOv11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rare PCB defects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 + YOLOv11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+Better generalization / −GAN training cost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 precision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2702996185"/>
                  </a:ext>
                </a:extLst>
              </a:tr>
              <a:tr h="269552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YOLOv11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High-precision detection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 + CARAFE + EIoU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+99.5% mAP / −More modules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227 FPS, real-time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1851302199"/>
                  </a:ext>
                </a:extLst>
              </a:tr>
              <a:tr h="50059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PCB-YOLO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high accuracy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 + CRSCC fusion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+Compact / −Limited improvement scope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among lightweight models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829713287"/>
                  </a:ext>
                </a:extLst>
              </a:tr>
              <a:tr h="3850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YOLO-HDEW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small-defect accuracy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EMP-Attn + DSConv + P2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+Generalizable / −Irregular defects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98.1% accuracy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3552404866"/>
                  </a:ext>
                </a:extLst>
              </a:tr>
              <a:tr h="50059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YOLOv11-CGL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deployment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 module + LAE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+Low parameters / −Limited validation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edge devices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4145909525"/>
                  </a:ext>
                </a:extLst>
              </a:tr>
              <a:tr h="38507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ViT-Mamba Fusion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generalization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 + Mamba Attention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+Novel fusion / −Higher computation</a:t>
                      </a:r>
                    </a:p>
                  </a:txBody>
                  <a:tcPr marL="38507" marR="38507" marT="19254" marB="1925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 high-precision detection</a:t>
                      </a:r>
                    </a:p>
                  </a:txBody>
                  <a:tcPr marL="38507" marR="38507" marT="19254" marB="19254" anchor="ctr"/>
                </a:tc>
                <a:extLst>
                  <a:ext uri="{0D108BD9-81ED-4DB2-BD59-A6C34878D82A}">
                    <a16:rowId xmlns:a16="http://schemas.microsoft.com/office/drawing/2014/main" val="15208076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Accuracy–speed trade-off: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models improve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speed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Transformer/attention-based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improve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increase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cost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real-world validation: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studies evaluate models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benchmark datasets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limited testing under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lighting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 backgrounds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hardware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unified benchmarking: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are evaluated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datasets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settings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 comparison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426"/>
            <a:ext cx="10515600" cy="4919230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comprehensive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literature review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recent PCB defect detection methods.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architectures based on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size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complexity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commonly used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strategies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lightweight framework for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PCB defect detection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framework against recent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Goals : </a:t>
            </a:r>
          </a:p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Industry, Innovation and Infrastructure</a:t>
            </a:r>
          </a:p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12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Responsible Consumption and Production</a:t>
            </a:r>
          </a:p>
          <a:p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Readiness Level (TRL) :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2-3</a:t>
            </a:r>
          </a:p>
          <a:p>
            <a:pPr marL="0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: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(Scopus)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29-07-2026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786" y="3429000"/>
            <a:ext cx="1876014" cy="150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(1/2)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fs left"/>
          <p:cNvSpPr txBox="1"/>
          <p:nvPr/>
        </p:nvSpPr>
        <p:spPr>
          <a:xfrm>
            <a:off x="838200" y="1450000"/>
            <a:ext cx="105156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Lightweight PCB Defect Detection Algorithm Based on an Improved YOLOv11s (2026)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Xuhui Ye, Lilu Huang, Jun Wang, Xinyu Hu, Jing Xu,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Chupeng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PCB Defect Detection Method Based on SCF-YOLO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Yazhou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Li, Yuanyuan Wang, Jiange Liu,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Kexiao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Wu, Hauwa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Suieiman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Abdullahi,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Pinrong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Haiyan Zhang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YOLOV8X-HICAUPS: An Attention Based Approach for Accurate PCB Defect Detection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Mounika M.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Gokulprasanth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GESC-YOLO: Improved Lightweight Printed Circuit Board Defect Detection Based Algorithm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Xiangqiang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Kong,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Guangmin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Liu,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Yanchen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Gao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PCB Defect Detection Method Based on Group Convolution and Adaptive Pruning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Yuezhong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Chu, Xiaolong Liu, Xuefeng Zhang, and Heng Liu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MAS-YOLO: A Lightweight Detection Algorithm for PCB Defect Detection Based on Improved YOLOv12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Xupeng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Yin,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Zikai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Zhao,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Liguo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Weng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PCB-YOLO: Enhancing PCB Surface Defect Detection with Coordinate Attention and Multi-Scale Feature Fusion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 Wei, Fan Yang,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Kezhen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Zhong,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Linkun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Yao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High-Accuracy PCB Defect Detection Algorithm Based on Improved YOLOv12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Zhi Chen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Bingxiang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Liu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YOLO-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DefXpert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Advanced Defect Detection on PCB Surfaces Using Improved YOLOv11 Algorithm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Prabu Selvam, R. Rajasekar, C. Gunasundari, S. Janu Priya, M. Murugappan, and Muhammad E. H. Chowdhury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ABF-YOLO: A Fine-Grained PCB Defect Detection Framework Integrating Axial Attention and Bidirectional Feature Fusion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Xiaoyao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Mingyang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Xie</a:t>
            </a:r>
          </a:p>
        </p:txBody>
      </p:sp>
      <p:sp>
        <p:nvSpPr>
          <p:cNvPr id="8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29-07-2026</a:t>
            </a:fld>
            <a:endParaRPr lang="en-IN"/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838200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(2/2)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fs left"/>
          <p:cNvSpPr txBox="1"/>
          <p:nvPr/>
        </p:nvSpPr>
        <p:spPr>
          <a:xfrm>
            <a:off x="838200" y="1450000"/>
            <a:ext cx="10515600" cy="4900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pPr marL="342900" indent="-342900">
              <a:buFont typeface="+mj-lt"/>
              <a:buAutoNum type="arabicPeriod" startAt="11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YOLO-HDEW: An Efficient PCB Defect Detection Model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Chuanwang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Song,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Yuanteng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Zhou,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Yinghao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Qingshuo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Qi,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Zhaoyu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Wang,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Keyong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 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Transformer and Mamba-Attention Fusion for High-Precision PCB Defect Detection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Asim Niaz, Muhammad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Umraiz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Shafiullah Soomro, and Kwang Nam Choi 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on Lightweight PCB Defect Detection Algorithm Based on YOLOv11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Jiankang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Yu,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JiaCui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Tang, and Ziming Tang 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NeoPCB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-YOLO: Next-Generation Enhanced Optimization YOLO for PCB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Anxu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 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 Defect Detection Based on Improved YOLOv8n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 Wang, Jingyu Yan, and Zhen Wang 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 Board Defect Detection Algorithm Based on Improved YOLOv8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Meijie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Zhao,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Haoyuan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Xu, Saltanat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Biibosunova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Shuo Zhang 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Detection Network in PCB Circuit Devices Based on GAN Enhanced YOLOv11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Jiayi Huang,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Feiyun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Zhao, and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Lieyang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Chen 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YOLOv11 Framework for High Precision Defect Detection in Printed Circuit Boards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Zeinab F. Elsharkawy 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Defect Detection in Printed Circuit Boards Based on the Multiscale Edge Strengthening and an Improved YOLOv10 (2025)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Weixun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Chen,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Xuneng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Ke, and Siming Meng</a:t>
            </a:r>
          </a:p>
        </p:txBody>
      </p:sp>
      <p:sp>
        <p:nvSpPr>
          <p:cNvPr id="8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29-07-2026</a:t>
            </a:fld>
            <a:endParaRPr lang="en-IN"/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1948</TotalTime>
  <Words>1392</Words>
  <Application>Microsoft Office PowerPoint</Application>
  <PresentationFormat>Widescreen</PresentationFormat>
  <Paragraphs>216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B.Tech – Computer Science and Engineering BCSE497J  Lightweight Deep Learning for PCB Defect Detection   (17972UG04)</vt:lpstr>
      <vt:lpstr>Aim</vt:lpstr>
      <vt:lpstr>Abstract</vt:lpstr>
      <vt:lpstr>Literature Review - Paper Summary (1/2)</vt:lpstr>
      <vt:lpstr>Literature Review - Paper Summary (2/2)</vt:lpstr>
      <vt:lpstr>Research Gap</vt:lpstr>
      <vt:lpstr>Objectives</vt:lpstr>
      <vt:lpstr>References (1/2)</vt:lpstr>
      <vt:lpstr>References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Abhinav Sinha</cp:lastModifiedBy>
  <cp:revision>16</cp:revision>
  <dcterms:created xsi:type="dcterms:W3CDTF">2026-07-14T06:00:41Z</dcterms:created>
  <dcterms:modified xsi:type="dcterms:W3CDTF">2026-07-29T17:02:26Z</dcterms:modified>
</cp:coreProperties>
</file>